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Slide Border"/>
          <p:cNvSpPr/>
          <p:nvPr/>
        </p:nvSpPr>
        <p:spPr>
          <a:xfrm>
            <a:off x="36576" y="36576"/>
            <a:ext cx="9070848" cy="5070348"/>
          </a:xfrm>
          <a:prstGeom prst="rect">
            <a:avLst/>
          </a:prstGeom>
          <a:noFill/>
          <a:ln w="6350">
            <a:solidFill>
              <a:srgbClr val="C2C8D2"/>
            </a:solidFill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ex-remedios/research-slides-skil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-pptx.readthedocs.i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xample.com/reports/deploy-frequency-q3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ci/reports/2026-01-flaky-tes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425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Element gallery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800" b="0" i="0">
                <a:solidFill>
                  <a:srgbClr val="555555"/>
                </a:solidFill>
                <a:latin typeface="Calibri"/>
              </a:rPr>
              <a:t>research-slides-skill · every slide names the layout elements it uses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8A8A8A"/>
                </a:solidFill>
                <a:latin typeface="Calibri"/>
              </a:rPr>
              <a:t>Built from</a:t>
            </a:r>
            <a:r>
              <a:rPr sz="1200" b="0" i="0">
                <a:solidFill>
                  <a:srgbClr val="8A8A8A"/>
                </a:solidFill>
                <a:latin typeface="Calibri"/>
              </a:rPr>
              <a:t> </a:t>
            </a:r>
            <a:r>
              <a:rPr sz="1200" b="0" i="0">
                <a:solidFill>
                  <a:srgbClr val="8A8A8A"/>
                </a:solidFill>
                <a:latin typeface="Courier New"/>
              </a:rPr>
              <a:t>example-slides.xml</a:t>
            </a:r>
            <a:r>
              <a:rPr sz="1200" b="0" i="0">
                <a:solidFill>
                  <a:srgbClr val="8A8A8A"/>
                </a:solidFill>
                <a:latin typeface="Calibri"/>
              </a:rPr>
              <a:t> with</a:t>
            </a:r>
            <a:r>
              <a:rPr sz="1200" b="0" i="0">
                <a:solidFill>
                  <a:srgbClr val="8A8A8A"/>
                </a:solidFill>
                <a:latin typeface="Calibri"/>
              </a:rPr>
              <a:t> </a:t>
            </a:r>
            <a:r>
              <a:rPr sz="1200" b="0" i="0">
                <a:solidFill>
                  <a:srgbClr val="1A73E8"/>
                </a:solidFill>
                <a:latin typeface="Calibri"/>
                <a:hlinkClick r:id="rId2"/>
              </a:rPr>
              <a:t>research-slides-skill</a:t>
            </a:r>
            <a:r>
              <a:rPr sz="1200" b="0" i="0">
                <a:solidFill>
                  <a:srgbClr val="8A8A8A"/>
                </a:solidFill>
                <a:latin typeface="Calibri"/>
              </a:rPr>
              <a:t> </a:t>
            </a:r>
            <a:r>
              <a:rPr sz="900" b="0" i="1">
                <a:solidFill>
                  <a:srgbClr val="707070"/>
                </a:solidFill>
                <a:latin typeface="Calibri"/>
              </a:rPr>
              <a:t>gallery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text · inline a, code, muted · outline="none"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:RECTANGLE"/>
          <p:cNvSpPr/>
          <p:nvPr/>
        </p:nvSpPr>
        <p:spPr>
          <a:xfrm>
            <a:off x="749808" y="1965960"/>
            <a:ext cx="2103120" cy="54864"/>
          </a:xfrm>
          <a:prstGeom prst="rect">
            <a:avLst/>
          </a:prstGeom>
          <a:solidFill>
            <a:srgbClr val="B5742A"/>
          </a:solidFill>
          <a:ln>
            <a:solidFill>
              <a:srgbClr val="B57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</a:pPr>
            <a:r>
              <a:rPr sz="3200" b="1" i="0">
                <a:solidFill>
                  <a:srgbClr val="1A1A1A"/>
                </a:solidFill>
                <a:latin typeface="Calibri"/>
              </a:rPr>
              <a:t>Section divider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A rule, a title, a subtitle — nothing else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shape prst="rectangle" (the rule) · title ·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&lt;text&gt; — paragraphs and inline runs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A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bold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run, an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i="1">
                <a:solidFill>
                  <a:srgbClr val="1A1A1A"/>
                </a:solidFill>
                <a:latin typeface="Calibri"/>
              </a:rPr>
              <a:t>italic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run, and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monospace code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in one paragraph.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real hyperlink: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i="0">
                <a:solidFill>
                  <a:srgbClr val="1A73E8"/>
                </a:solidFill>
                <a:latin typeface="Calibri"/>
                <a:hlinkClick r:id="rId2"/>
              </a:rPr>
              <a:t>python-pptx docs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; a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200" b="0" i="1">
                <a:solidFill>
                  <a:srgbClr val="707070"/>
                </a:solidFill>
                <a:latin typeface="Calibri"/>
              </a:rPr>
              <a:t>muted owner tag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at the end.</a:t>
            </a:r>
          </a:p>
          <a:p>
            <a:pPr>
              <a:lnSpc>
                <a:spcPct val="100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run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takes explicit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400" b="0" i="1">
                <a:solidFill>
                  <a:srgbClr val="2A52A0"/>
                </a:solidFill>
                <a:latin typeface="Calibri"/>
              </a:rPr>
              <a:t>color, size, bold, italic, font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Nesting composes: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i="1">
                <a:solidFill>
                  <a:srgbClr val="1A1A1A"/>
                </a:solidFill>
                <a:latin typeface="Calibri"/>
              </a:rPr>
              <a:t>italic throughout,</a:t>
            </a:r>
            <a:r>
              <a:rPr sz="1600" b="0" i="1">
                <a:solidFill>
                  <a:srgbClr val="1A1A1A"/>
                </a:solidFill>
                <a:latin typeface="Calibri"/>
              </a:rPr>
              <a:t> </a:t>
            </a:r>
            <a:r>
              <a:rPr sz="1600" b="1" i="1">
                <a:solidFill>
                  <a:srgbClr val="1A1A1A"/>
                </a:solidFill>
                <a:latin typeface="Calibri"/>
              </a:rPr>
              <a:t>bold here</a:t>
            </a:r>
            <a:r>
              <a:rPr sz="1600" b="0" i="1">
                <a:solidFill>
                  <a:srgbClr val="1A1A1A"/>
                </a:solidFill>
                <a:latin typeface="Calibri"/>
              </a:rPr>
              <a:t>, italic again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line break inside a paragraph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0" i="0">
                <a:solidFill>
                  <a:srgbClr val="1A1A1A"/>
                </a:solidFill>
                <a:latin typeface="Calibri"/>
              </a:rPr>
              <a:t>renders as a real paragraph break, so it survives the Google Slides import.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text with p · inline b, i, code, a, muted, run, 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&lt;bullets&gt; — levels and numbering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008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bullet="•" (default), level= to indent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40080" y="141732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84480">
              <a:spcAft>
                <a:spcPts val="8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Top-level point</a:t>
            </a:r>
          </a:p>
          <a:p>
            <a:pPr lvl="1" marL="548640" indent="-284480">
              <a:spcAft>
                <a:spcPts val="8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sub-point, indented once</a:t>
            </a:r>
          </a:p>
          <a:p>
            <a:pPr lvl="2" marL="822960" indent="-284480">
              <a:spcAft>
                <a:spcPts val="8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Indented twice; wrapped lines align under the text, not the glyph</a:t>
            </a:r>
          </a:p>
          <a:p>
            <a:pPr marL="274320" indent="-284480">
              <a:spcAft>
                <a:spcPts val="8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Back to the top level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bullet="arabic" (auto-numbered)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4754880" y="141732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84480">
              <a:spcAft>
                <a:spcPts val="800"/>
              </a:spcAft>
              <a:buAutoNum type="arabicPeriod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Scaffold the deck: title and dividers</a:t>
            </a:r>
          </a:p>
          <a:p>
            <a:pPr marL="274320" indent="-284480">
              <a:spcAft>
                <a:spcPts val="800"/>
              </a:spcAft>
              <a:buAutoNum type="arabicPeriod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Fill one section at a time</a:t>
            </a:r>
          </a:p>
          <a:p>
            <a:pPr marL="274320" indent="-284480">
              <a:spcAft>
                <a:spcPts val="800"/>
              </a:spcAft>
              <a:buAutoNum type="arabicPeriod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Build, check fidelity, look at the PNGs</a:t>
            </a:r>
          </a:p>
          <a:p>
            <a:pPr marL="274320" indent="0">
              <a:spcAft>
                <a:spcPts val="8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(a single li can override its own bullet)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text · bullets with li level= · bullets bullet="arabic"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&lt;shape&gt; — a native flow, no image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40080" y="13716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64160">
              <a:spcAft>
                <a:spcPts val="1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merge to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builds a versioned artifact.</a:t>
            </a:r>
          </a:p>
          <a:p>
            <a:pPr marL="274320" indent="-264160">
              <a:spcAft>
                <a:spcPts val="1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Canary takes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5%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of traffic for 30 minutes before the full rollout.</a:t>
            </a:r>
          </a:p>
          <a:p>
            <a:pPr marL="274320" indent="-264160">
              <a:spcAft>
                <a:spcPts val="1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failed health check rolls back automatically.</a:t>
            </a:r>
          </a:p>
        </p:txBody>
      </p:sp>
      <p:sp>
        <p:nvSpPr>
          <p:cNvPr id="4" name="Shape:ROUNDED_RECTANGLE"/>
          <p:cNvSpPr/>
          <p:nvPr/>
        </p:nvSpPr>
        <p:spPr>
          <a:xfrm>
            <a:off x="4892040" y="96012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E3F0E3"/>
          </a:solidFill>
          <a:ln>
            <a:solidFill>
              <a:srgbClr val="3C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F5A2F"/>
                </a:solidFill>
                <a:latin typeface="Calibri"/>
              </a:rPr>
              <a:t>Pull request merged</a:t>
            </a:r>
            <a:r>
              <a:rPr sz="1300" b="0" i="0">
                <a:solidFill>
                  <a:srgbClr val="2F5A2F"/>
                </a:solidFill>
                <a:latin typeface="Calibri"/>
              </a:rPr>
              <a:t> (CI green)</a:t>
            </a:r>
          </a:p>
        </p:txBody>
      </p:sp>
      <p:sp>
        <p:nvSpPr>
          <p:cNvPr id="5" name="Shape:DOWN_ARROW"/>
          <p:cNvSpPr/>
          <p:nvPr/>
        </p:nvSpPr>
        <p:spPr>
          <a:xfrm>
            <a:off x="6464808" y="1463040"/>
            <a:ext cx="329184" cy="292608"/>
          </a:xfrm>
          <a:prstGeom prst="downArrow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:ROUNDED_RECTANGLE"/>
          <p:cNvSpPr/>
          <p:nvPr/>
        </p:nvSpPr>
        <p:spPr>
          <a:xfrm>
            <a:off x="4892040" y="1801368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EAF0FB"/>
          </a:solidFill>
          <a:ln>
            <a:solidFill>
              <a:srgbClr val="2A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3A6B"/>
                </a:solidFill>
                <a:latin typeface="Calibri"/>
              </a:rPr>
              <a:t>Canary deploy</a:t>
            </a:r>
            <a:r>
              <a:rPr sz="1300" b="0" i="0">
                <a:solidFill>
                  <a:srgbClr val="1A3A6B"/>
                </a:solidFill>
                <a:latin typeface="Calibri"/>
              </a:rPr>
              <a:t> · 5% of traffic, 30 min soak</a:t>
            </a:r>
          </a:p>
        </p:txBody>
      </p:sp>
      <p:sp>
        <p:nvSpPr>
          <p:cNvPr id="7" name="Shape:DOWN_ARROW"/>
          <p:cNvSpPr/>
          <p:nvPr/>
        </p:nvSpPr>
        <p:spPr>
          <a:xfrm>
            <a:off x="6464808" y="2505456"/>
            <a:ext cx="329184" cy="292608"/>
          </a:xfrm>
          <a:prstGeom prst="downArrow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:ROUNDED_RECTANGLE"/>
          <p:cNvSpPr/>
          <p:nvPr/>
        </p:nvSpPr>
        <p:spPr>
          <a:xfrm>
            <a:off x="4892040" y="2843784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BE9E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8E2A20"/>
                </a:solidFill>
                <a:latin typeface="Calibri"/>
              </a:rPr>
              <a:t>Full rollout</a:t>
            </a:r>
            <a:r>
              <a:rPr sz="1300" b="0" i="0">
                <a:solidFill>
                  <a:srgbClr val="8E2A20"/>
                </a:solidFill>
                <a:latin typeface="Calibri"/>
              </a:rPr>
              <a:t> or automatic rollback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4572000" y="3703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Three stages; the health check decides between the last two.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bullets · shape prst="rounded-rectangle" · shape prst="down-arrow" · caption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&lt;shape&gt; — a tier ladder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1371600" y="914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707070"/>
                </a:solidFill>
                <a:latin typeface="Calibri"/>
              </a:rPr>
              <a:t>Fastest at the top; each tier below covers more and costs more.</a:t>
            </a:r>
          </a:p>
        </p:txBody>
      </p:sp>
      <p:sp>
        <p:nvSpPr>
          <p:cNvPr id="4" name="Shape:ROUNDED_RECTANGLE"/>
          <p:cNvSpPr/>
          <p:nvPr/>
        </p:nvSpPr>
        <p:spPr>
          <a:xfrm>
            <a:off x="1371600" y="1371600"/>
            <a:ext cx="6400800" cy="566928"/>
          </a:xfrm>
          <a:prstGeom prst="roundRect">
            <a:avLst>
              <a:gd name="adj" fmla="val 8064"/>
            </a:avLst>
          </a:prstGeom>
          <a:solidFill>
            <a:srgbClr val="F4F8FD"/>
          </a:solidFill>
          <a:ln>
            <a:solidFill>
              <a:srgbClr val="9DB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3A6B"/>
                </a:solidFill>
                <a:latin typeface="Calibri"/>
              </a:rPr>
              <a:t>unit</a:t>
            </a:r>
            <a:r>
              <a:rPr sz="1300" b="0" i="0">
                <a:solidFill>
                  <a:srgbClr val="1A3A6B"/>
                </a:solidFill>
                <a:latin typeface="Calibri"/>
              </a:rPr>
              <a:t> — pure functions, milliseconds, thousands of cases</a:t>
            </a:r>
          </a:p>
        </p:txBody>
      </p:sp>
      <p:sp>
        <p:nvSpPr>
          <p:cNvPr id="5" name="Shape:ROUNDED_RECTANGLE"/>
          <p:cNvSpPr/>
          <p:nvPr/>
        </p:nvSpPr>
        <p:spPr>
          <a:xfrm>
            <a:off x="1371600" y="2075688"/>
            <a:ext cx="6400800" cy="566928"/>
          </a:xfrm>
          <a:prstGeom prst="roundRect">
            <a:avLst>
              <a:gd name="adj" fmla="val 8064"/>
            </a:avLst>
          </a:prstGeom>
          <a:solidFill>
            <a:srgbClr val="E7F0FA"/>
          </a:solidFill>
          <a:ln>
            <a:solidFill>
              <a:srgbClr val="7E9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A3A6B"/>
                </a:solidFill>
                <a:latin typeface="Calibri"/>
              </a:rPr>
              <a:t>integration</a:t>
            </a:r>
            <a:r>
              <a:rPr sz="1300" b="0" i="0">
                <a:solidFill>
                  <a:srgbClr val="1A3A6B"/>
                </a:solidFill>
                <a:latin typeface="Calibri"/>
              </a:rPr>
              <a:t> — real database, one service at a time</a:t>
            </a:r>
          </a:p>
        </p:txBody>
      </p:sp>
      <p:sp>
        <p:nvSpPr>
          <p:cNvPr id="6" name="Shape:ROUNDED_RECTANGLE"/>
          <p:cNvSpPr/>
          <p:nvPr/>
        </p:nvSpPr>
        <p:spPr>
          <a:xfrm>
            <a:off x="1371600" y="2779776"/>
            <a:ext cx="6400800" cy="566928"/>
          </a:xfrm>
          <a:prstGeom prst="roundRect">
            <a:avLst>
              <a:gd name="adj" fmla="val 8064"/>
            </a:avLst>
          </a:prstGeom>
          <a:solidFill>
            <a:srgbClr val="D9E6F5"/>
          </a:solidFill>
          <a:ln>
            <a:solidFill>
              <a:srgbClr val="5E8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4315C"/>
                </a:solidFill>
                <a:latin typeface="Calibri"/>
              </a:rPr>
              <a:t>contract</a:t>
            </a:r>
            <a:r>
              <a:rPr sz="1300" b="0" i="0">
                <a:solidFill>
                  <a:srgbClr val="14315C"/>
                </a:solidFill>
                <a:latin typeface="Calibri"/>
              </a:rPr>
              <a:t> — recorded requests between services</a:t>
            </a:r>
          </a:p>
        </p:txBody>
      </p:sp>
      <p:sp>
        <p:nvSpPr>
          <p:cNvPr id="7" name="Shape:ROUNDED_RECTANGLE"/>
          <p:cNvSpPr/>
          <p:nvPr/>
        </p:nvSpPr>
        <p:spPr>
          <a:xfrm>
            <a:off x="1371600" y="3483864"/>
            <a:ext cx="6400800" cy="566928"/>
          </a:xfrm>
          <a:prstGeom prst="roundRect">
            <a:avLst>
              <a:gd name="adj" fmla="val 8064"/>
            </a:avLst>
          </a:prstGeom>
          <a:solidFill>
            <a:srgbClr val="CBDCF0"/>
          </a:solidFill>
          <a:ln>
            <a:solidFill>
              <a:srgbClr val="44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4315C"/>
                </a:solidFill>
                <a:latin typeface="Calibri"/>
              </a:rPr>
              <a:t>end-to-end</a:t>
            </a:r>
            <a:r>
              <a:rPr sz="1300" b="0" i="0">
                <a:solidFill>
                  <a:srgbClr val="14315C"/>
                </a:solidFill>
                <a:latin typeface="Calibri"/>
              </a:rPr>
              <a:t> — a browser against a staging cluster</a:t>
            </a:r>
          </a:p>
        </p:txBody>
      </p:sp>
      <p:sp>
        <p:nvSpPr>
          <p:cNvPr id="8" name="Shape:ROUNDED_RECTANGLE"/>
          <p:cNvSpPr/>
          <p:nvPr/>
        </p:nvSpPr>
        <p:spPr>
          <a:xfrm>
            <a:off x="1371600" y="4187952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BDD2EB"/>
          </a:solidFill>
          <a:ln>
            <a:solidFill>
              <a:srgbClr val="2F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2647"/>
                </a:solidFill>
                <a:latin typeface="Calibri"/>
              </a:rPr>
              <a:t>manual</a:t>
            </a:r>
            <a:r>
              <a:rPr sz="1300" b="0" i="0">
                <a:solidFill>
                  <a:srgbClr val="0F2647"/>
                </a:solidFill>
                <a:latin typeface="Calibri"/>
              </a:rPr>
              <a:t> — release checklist, once per release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text · shape prst="rounded-rectangle" x5 (single-hue fill ramp)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&lt;shape&gt; — a taxonomy with a severity ramp</a:t>
            </a:r>
          </a:p>
        </p:txBody>
      </p:sp>
      <p:sp>
        <p:nvSpPr>
          <p:cNvPr id="3" name="Shape:ROUNDED_RECTANGLE"/>
          <p:cNvSpPr/>
          <p:nvPr/>
        </p:nvSpPr>
        <p:spPr>
          <a:xfrm>
            <a:off x="1188720" y="1371600"/>
            <a:ext cx="6400800" cy="868680"/>
          </a:xfrm>
          <a:prstGeom prst="roundRect">
            <a:avLst>
              <a:gd name="adj" fmla="val 5263"/>
            </a:avLst>
          </a:prstGeom>
          <a:solidFill>
            <a:srgbClr val="EAF0FB"/>
          </a:solidFill>
          <a:ln>
            <a:solidFill>
              <a:srgbClr val="2A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A3A6B"/>
                </a:solidFill>
                <a:latin typeface="Calibri"/>
              </a:rPr>
              <a:t>Sev 3 — degraded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— e.g.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</a:t>
            </a:r>
            <a:r>
              <a:rPr sz="1500" b="0" i="1">
                <a:solidFill>
                  <a:srgbClr val="555555"/>
                </a:solidFill>
                <a:latin typeface="Calibri"/>
              </a:rPr>
              <a:t>search results load slowly</a:t>
            </a:r>
          </a:p>
        </p:txBody>
      </p:sp>
      <p:sp>
        <p:nvSpPr>
          <p:cNvPr id="4" name="Shape:ROUNDED_RECTANGLE"/>
          <p:cNvSpPr/>
          <p:nvPr/>
        </p:nvSpPr>
        <p:spPr>
          <a:xfrm>
            <a:off x="1188720" y="2423160"/>
            <a:ext cx="6400800" cy="868680"/>
          </a:xfrm>
          <a:prstGeom prst="roundRect">
            <a:avLst>
              <a:gd name="adj" fmla="val 5263"/>
            </a:avLst>
          </a:prstGeom>
          <a:solidFill>
            <a:srgbClr val="FBEEDF"/>
          </a:solidFill>
          <a:ln>
            <a:solidFill>
              <a:srgbClr val="B57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7A4E18"/>
                </a:solidFill>
                <a:latin typeface="Calibri"/>
              </a:rPr>
              <a:t>Sev 2 — feature down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— e.g.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</a:t>
            </a:r>
            <a:r>
              <a:rPr sz="1500" b="0" i="0">
                <a:solidFill>
                  <a:srgbClr val="555555"/>
                </a:solidFill>
                <a:latin typeface="Courier New"/>
              </a:rPr>
              <a:t>POST /checkout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returns 500</a:t>
            </a:r>
          </a:p>
        </p:txBody>
      </p:sp>
      <p:sp>
        <p:nvSpPr>
          <p:cNvPr id="5" name="Shape:ROUNDED_RECTANGLE"/>
          <p:cNvSpPr/>
          <p:nvPr/>
        </p:nvSpPr>
        <p:spPr>
          <a:xfrm>
            <a:off x="1188720" y="3474720"/>
            <a:ext cx="6400800" cy="868680"/>
          </a:xfrm>
          <a:prstGeom prst="roundRect">
            <a:avLst>
              <a:gd name="adj" fmla="val 5263"/>
            </a:avLst>
          </a:prstGeom>
          <a:solidFill>
            <a:srgbClr val="FBE9E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8E2A20"/>
                </a:solidFill>
                <a:latin typeface="Calibri"/>
              </a:rPr>
              <a:t>Sev 1 — outage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— e.g. login fails for every user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shape prst="rounded-rectangle" with mixed inline runs (b, run, code)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&lt;image&gt; — a results slide with caption and provenance</a:t>
            </a:r>
          </a:p>
        </p:txBody>
      </p:sp>
      <p:pic>
        <p:nvPicPr>
          <p:cNvPr id="3" name="Image:example-chart.png" descr="exampl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4400"/>
            <a:ext cx="5120640" cy="2867558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1280160" y="38862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Rendered at 16:9 with oversized fonts so it reads at slide size; numbers come from the data, not the XML.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image src= w= (fit="contain") · caption · source href=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8A"/>
                </a:solidFill>
                <a:latin typeface="Calibri"/>
                <a:hlinkClick r:id="rId3"/>
              </a:rPr>
              <a:t>data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Pattern — data-led intro: input card, then outcomes</a:t>
            </a:r>
          </a:p>
        </p:txBody>
      </p:sp>
      <p:sp>
        <p:nvSpPr>
          <p:cNvPr id="3" name="Shape:RECTANGLE"/>
          <p:cNvSpPr/>
          <p:nvPr/>
        </p:nvSpPr>
        <p:spPr>
          <a:xfrm>
            <a:off x="2286000" y="1188720"/>
            <a:ext cx="4572000" cy="914400"/>
          </a:xfrm>
          <a:prstGeom prst="rect">
            <a:avLst/>
          </a:prstGeom>
          <a:solidFill>
            <a:srgbClr val="FBFBF8"/>
          </a:solidFill>
          <a:ln>
            <a:solidFill>
              <a:srgbClr val="CFC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555555"/>
                </a:solidFill>
                <a:latin typeface="Courier New"/>
              </a:rPr>
              <a:t>CI:</a:t>
            </a:r>
            <a:r>
              <a:rPr sz="1200" b="0" i="0">
                <a:solidFill>
                  <a:srgbClr val="555555"/>
                </a:solidFill>
                <a:latin typeface="Courier New"/>
              </a:rPr>
              <a:t> test_payment_webhook FAILED (timeout 30s)</a:t>
            </a:r>
          </a:p>
          <a:p>
            <a:pPr algn="l"/>
            <a:r>
              <a:rPr sz="1200" b="1" i="0">
                <a:solidFill>
                  <a:srgbClr val="A23A3A"/>
                </a:solidFill>
                <a:latin typeface="Courier New"/>
              </a:rPr>
              <a:t>retry</a:t>
            </a:r>
            <a:r>
              <a:rPr sz="1200" b="0" i="0">
                <a:solidFill>
                  <a:srgbClr val="A23A3A"/>
                </a:solidFill>
                <a:latin typeface="Courier New"/>
              </a:rPr>
              <a:t> 1 of 2 …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463040" y="2286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Calibri"/>
              </a:rPr>
              <a:t>What happens — the first retry recovers most runs; the second rarely helps:</a:t>
            </a:r>
          </a:p>
        </p:txBody>
      </p:sp>
      <p:sp>
        <p:nvSpPr>
          <p:cNvPr id="5" name="Shape:ROUNDED_RECTANGLE"/>
          <p:cNvSpPr/>
          <p:nvPr/>
        </p:nvSpPr>
        <p:spPr>
          <a:xfrm>
            <a:off x="1463040" y="2651760"/>
            <a:ext cx="3383280" cy="1097280"/>
          </a:xfrm>
          <a:prstGeom prst="roundRect">
            <a:avLst>
              <a:gd name="adj" fmla="val 4166"/>
            </a:avLst>
          </a:prstGeom>
          <a:solidFill>
            <a:srgbClr val="E3F0E3"/>
          </a:solidFill>
          <a:ln>
            <a:solidFill>
              <a:srgbClr val="3C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2F5A2F"/>
                </a:solidFill>
                <a:latin typeface="Calibri"/>
              </a:rPr>
              <a:t>Retry 1</a:t>
            </a:r>
          </a:p>
          <a:p>
            <a:pPr algn="ctr"/>
            <a:r>
              <a:rPr sz="1200" b="1" i="0">
                <a:solidFill>
                  <a:srgbClr val="2F7A2F"/>
                </a:solidFill>
                <a:latin typeface="Calibri"/>
              </a:rPr>
              <a:t>✓ recovers</a:t>
            </a:r>
            <a:r>
              <a:rPr sz="1200" b="0" i="0">
                <a:solidFill>
                  <a:srgbClr val="2F5A2F"/>
                </a:solidFill>
                <a:latin typeface="Calibri"/>
              </a:rPr>
              <a:t> — 412 of 480 failures (86%)</a:t>
            </a:r>
          </a:p>
        </p:txBody>
      </p:sp>
      <p:sp>
        <p:nvSpPr>
          <p:cNvPr id="6" name="Shape:ROUNDED_RECTANGLE"/>
          <p:cNvSpPr/>
          <p:nvPr/>
        </p:nvSpPr>
        <p:spPr>
          <a:xfrm>
            <a:off x="5212080" y="2651760"/>
            <a:ext cx="3383280" cy="1097280"/>
          </a:xfrm>
          <a:prstGeom prst="roundRect">
            <a:avLst>
              <a:gd name="adj" fmla="val 4166"/>
            </a:avLst>
          </a:prstGeom>
          <a:solidFill>
            <a:srgbClr val="FBE9E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Retry 2</a:t>
            </a:r>
          </a:p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marginal</a:t>
            </a:r>
            <a:r>
              <a:rPr sz="1200" b="0" i="0">
                <a:solidFill>
                  <a:srgbClr val="8E2A20"/>
                </a:solidFill>
                <a:latin typeface="Calibri"/>
              </a:rPr>
              <a:t> — recovers</a:t>
            </a:r>
            <a:r>
              <a:rPr sz="1200" b="0" i="0">
                <a:solidFill>
                  <a:srgbClr val="8E2A20"/>
                </a:solidFill>
                <a:latin typeface="Calibri"/>
              </a:rPr>
              <a:t> </a:t>
            </a:r>
            <a:r>
              <a:rPr sz="1200" b="1" i="0">
                <a:solidFill>
                  <a:srgbClr val="8E2A20"/>
                </a:solidFill>
                <a:latin typeface="Calibri"/>
              </a:rPr>
              <a:t>9</a:t>
            </a:r>
            <a:r>
              <a:rPr sz="1200" b="0" i="0">
                <a:solidFill>
                  <a:srgbClr val="8E2A20"/>
                </a:solidFill>
                <a:latin typeface="Calibri"/>
              </a:rPr>
              <a:t> more;</a:t>
            </a:r>
            <a:r>
              <a:rPr sz="1200" b="0" i="0">
                <a:solidFill>
                  <a:srgbClr val="8E2A20"/>
                </a:solidFill>
                <a:latin typeface="Calibri"/>
              </a:rPr>
              <a:t> </a:t>
            </a:r>
            <a:r>
              <a:rPr sz="1200" b="1" i="0">
                <a:solidFill>
                  <a:srgbClr val="8E2A20"/>
                </a:solidFill>
                <a:latin typeface="Calibri"/>
              </a:rPr>
              <a:t>59</a:t>
            </a:r>
            <a:r>
              <a:rPr sz="1200" b="0" i="0">
                <a:solidFill>
                  <a:srgbClr val="8E2A20"/>
                </a:solidFill>
                <a:latin typeface="Calibri"/>
              </a:rPr>
              <a:t> are real failures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shape prst="rectangle" (mono card) · text · shape prst="rounded-rectangle" x2 · source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8A"/>
                </a:solidFill>
                <a:latin typeface="Calibri"/>
                <a:hlinkClick r:id="rId2"/>
              </a:rPr>
              <a:t>data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&lt;columns&gt; — a two-column compare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502920" y="960120"/>
            <a:ext cx="40919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2A52A0"/>
                </a:solidFill>
                <a:latin typeface="Calibri"/>
              </a:rPr>
              <a:t>1 · Lockfile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02920" y="1225296"/>
            <a:ext cx="40919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exact versions, resolved once, committed</a:t>
            </a:r>
          </a:p>
        </p:txBody>
      </p:sp>
      <p:sp>
        <p:nvSpPr>
          <p:cNvPr id="5" name="Shape:RECTANGLE"/>
          <p:cNvSpPr/>
          <p:nvPr/>
        </p:nvSpPr>
        <p:spPr>
          <a:xfrm>
            <a:off x="502920" y="1481328"/>
            <a:ext cx="4091939" cy="1234440"/>
          </a:xfrm>
          <a:prstGeom prst="rect">
            <a:avLst/>
          </a:prstGeom>
          <a:solidFill>
            <a:srgbClr val="FBFBF8"/>
          </a:solidFill>
          <a:ln>
            <a:solidFill>
              <a:srgbClr val="CFC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requests==2.32.3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urllib3==2.2.2</a:t>
            </a:r>
          </a:p>
          <a:p>
            <a:pPr algn="l"/>
            <a:r>
              <a:rPr sz="1000" b="0" i="0">
                <a:solidFill>
                  <a:srgbClr val="A23A3A"/>
                </a:solidFill>
                <a:latin typeface="Courier New"/>
              </a:rPr>
              <a:t>certifi==2024.7.4  # transitive, pinned too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77740" y="960120"/>
            <a:ext cx="40919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 i="0">
                <a:solidFill>
                  <a:srgbClr val="2F7A2F"/>
                </a:solidFill>
                <a:latin typeface="Calibri"/>
              </a:rPr>
              <a:t>2 · Ranges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77740" y="1225296"/>
            <a:ext cx="40919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floors only; resolution happens at install time</a:t>
            </a:r>
          </a:p>
        </p:txBody>
      </p:sp>
      <p:sp>
        <p:nvSpPr>
          <p:cNvPr id="8" name="Shape:RECTANGLE"/>
          <p:cNvSpPr/>
          <p:nvPr/>
        </p:nvSpPr>
        <p:spPr>
          <a:xfrm>
            <a:off x="4777740" y="1481328"/>
            <a:ext cx="4091939" cy="1417320"/>
          </a:xfrm>
          <a:prstGeom prst="rect">
            <a:avLst/>
          </a:prstGeom>
          <a:solidFill>
            <a:srgbClr val="F4FAF4"/>
          </a:solidFill>
          <a:ln>
            <a:solidFill>
              <a:srgbClr val="9CC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Trade-off: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a range picks up security fixes for free, but two installs a week apart can differ — so builds are reproducible only with a lockfile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</a:t>
            </a:r>
            <a:r>
              <a:rPr sz="1100" b="0" i="1">
                <a:solidFill>
                  <a:srgbClr val="333333"/>
                </a:solidFill>
                <a:latin typeface="Calibri"/>
              </a:rPr>
              <a:t>as well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columns gap= · column w="50%" · text · shape prst="rectangle"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&lt;table&gt; — a configuration matrix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914400"/>
          <a:ext cx="8412480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1645920"/>
                <a:gridCol w="146304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 marL="91440" marR="91440" marT="27432" marB="27432">
                    <a:lnB w="1587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replicas</a:t>
                      </a:r>
                    </a:p>
                  </a:txBody>
                  <a:tcPr anchor="ctr" marL="91440" marR="91440" marT="27432" marB="27432">
                    <a:lnB w="1587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autoscale</a:t>
                      </a:r>
                    </a:p>
                  </a:txBody>
                  <a:tcPr anchor="ctr" marL="91440" marR="91440" marT="27432" marB="27432">
                    <a:lnB w="1587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L="91440" marR="91440" marT="27432" marB="27432">
                    <a:lnB w="1587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5555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999999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shared, reset nightly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staging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5555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A23A3A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snapshot of production</a:t>
                      </a:r>
                    </a:p>
                  </a:txBody>
                  <a:tcPr anchor="ctr" marL="91440" marR="91440" marT="27432" marB="27432">
                    <a:lnB w="9525" cap="flat" cmpd="sng" algn="ctr">
                      <a:solidFill>
                        <a:srgbClr val="CFCFC9"/>
                      </a:solidFill>
                      <a:prstDash val="solid"/>
                    </a:lnB>
                    <a:solidFill>
                      <a:srgbClr val="F4F4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anchor="ctr" marL="91440" marR="91440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555555"/>
                          </a:solidFill>
                          <a:latin typeface="Calibri"/>
                        </a:rPr>
                        <a:t>6–24</a:t>
                      </a:r>
                    </a:p>
                  </a:txBody>
                  <a:tcPr anchor="ctr" marL="91440" marR="91440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3A6B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 anchor="ctr" marL="91440" marR="91440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primary + two replicas</a:t>
                      </a:r>
                    </a:p>
                  </a:txBody>
                  <a:tcPr anchor="ctr" marL="91440" marR="91440" marT="27432" marB="27432">
                    <a:noFill/>
                  </a:tcPr>
                </a:tc>
              </a:tr>
            </a:tbl>
          </a:graphicData>
        </a:graphic>
      </p:graphicFrame>
      <p:sp>
        <p:nvSpPr>
          <p:cNvPr id="4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table cols= align= row-height= rules="rows" · tr · td color=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&lt;turn&gt; — transcript cards</a:t>
            </a:r>
          </a:p>
        </p:txBody>
      </p:sp>
      <p:sp>
        <p:nvSpPr>
          <p:cNvPr id="3" name="Turn:user"/>
          <p:cNvSpPr/>
          <p:nvPr/>
        </p:nvSpPr>
        <p:spPr>
          <a:xfrm>
            <a:off x="548640" y="109728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EFEFE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55555"/>
                </a:solidFill>
                <a:latin typeface="Calibri"/>
              </a:rPr>
              <a:t>user</a:t>
            </a:r>
          </a:p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Hi, I was charged twice for order #48213. Can you refund one of them?</a:t>
            </a:r>
          </a:p>
        </p:txBody>
      </p:sp>
      <p:sp>
        <p:nvSpPr>
          <p:cNvPr id="4" name="Turn:agent"/>
          <p:cNvSpPr/>
          <p:nvPr/>
        </p:nvSpPr>
        <p:spPr>
          <a:xfrm>
            <a:off x="548640" y="2011680"/>
            <a:ext cx="8046720" cy="1005840"/>
          </a:xfrm>
          <a:prstGeom prst="roundRect">
            <a:avLst>
              <a:gd name="adj" fmla="val 5454"/>
            </a:avLst>
          </a:prstGeom>
          <a:solidFill>
            <a:srgbClr val="FBE0E0"/>
          </a:solidFill>
          <a:ln w="12700">
            <a:solidFill>
              <a:srgbClr val="A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A23A3A"/>
                </a:solidFill>
                <a:latin typeface="Calibri"/>
              </a:rPr>
              <a:t>agent</a:t>
            </a:r>
          </a:p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I can see two charges of $42.00 on 14 Jan. I have refunded the duplicate;</a:t>
            </a:r>
          </a:p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it should appear on your statement within 5 business days.</a:t>
            </a:r>
          </a:p>
        </p:txBody>
      </p:sp>
      <p:sp>
        <p:nvSpPr>
          <p:cNvPr id="5" name="Turn:result"/>
          <p:cNvSpPr/>
          <p:nvPr/>
        </p:nvSpPr>
        <p:spPr>
          <a:xfrm>
            <a:off x="548640" y="320040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BE0E0"/>
          </a:solidFill>
          <a:ln w="25400">
            <a:solidFill>
              <a:srgbClr val="A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A23A3A"/>
                </a:solidFill>
                <a:latin typeface="Calibri"/>
              </a:rPr>
              <a:t>result · AUDIT</a:t>
            </a:r>
          </a:p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refund(order=48213, charge=ch_2, amount=42.00) -&gt; ok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Cards are one shape each: a small context label above a mono body.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elements: title · turn actor="user" · turn actor="agent" · turn actor="result" tag= ·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654550"/>
            <a:ext cx="6858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9D74E2A-1B0E-4D2C-9C1F-0A6F4E5C7A11}" type="slidenum">
              <a:rPr lang="en-US" sz="1100">
                <a:solidFill>
                  <a:srgbClr val="808080"/>
                </a:solidFill>
              </a:rPr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example-slides</dc:title>
  <dc:subject/>
  <dc:creator/>
  <cp:keywords/>
  <dc:description/>
  <cp:lastModifiedBy>research-slides-skill</cp:lastModifiedBy>
  <cp:revision>1</cp:revision>
  <dcterms:created xsi:type="dcterms:W3CDTF">2026-09-06T13:00:33Z</dcterms:created>
  <dcterms:modified xsi:type="dcterms:W3CDTF">2026-09-06T13:00:33Z</dcterms:modified>
  <cp:category/>
</cp:coreProperties>
</file>